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2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Virino Spaco" initials="VS" lastIdx="1" clrIdx="0">
    <p:extLst>
      <p:ext uri="{19B8F6BF-5375-455C-9EA6-DF929625EA0E}">
        <p15:presenceInfo xmlns:p15="http://schemas.microsoft.com/office/powerpoint/2012/main" userId="f4f97ef788a0adfe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C5ED38-E470-4E02-A4E1-689B3CBF1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3B60D76-7E76-47AE-9F35-4FB17E81EA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DAC2E5E-01CA-47D2-AED3-00B700E06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2BFB6-1FC3-41CB-8C42-49EFF6365BE4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F45BF72-EF84-42BE-BA4A-BE257E459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EBA23D3-5586-4CFF-A366-D3BBBF4FC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3BAD9-F855-4EE1-BA3C-3F3287C71C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2541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F1D481-4443-4226-B674-BBCD765A3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8F0180B-E901-4734-901C-0A1D6B90D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287B1A-E1D1-40D0-9F49-817C5A30D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2BFB6-1FC3-41CB-8C42-49EFF6365BE4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A6F7C33-29D4-4E65-88D1-D2DA088AF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11978BA-9B85-499F-A5B0-AA841FDA1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3BAD9-F855-4EE1-BA3C-3F3287C71C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331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28E02B-66AA-490D-AFAB-44ACF307A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DE91222-1C74-4637-838D-50090119D1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D1D5861-C913-4284-87A4-C41FADDB2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2BFB6-1FC3-41CB-8C42-49EFF6365BE4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252B21C-F9F0-45B5-B720-001F3F4ED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552D080-916F-4868-8756-052DA43C2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3BAD9-F855-4EE1-BA3C-3F3287C71C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5009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739D69-6291-47F9-B74A-3AE2AF723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B6F2AB0-C8F9-4E90-8B19-12D53110F5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5109FA2-405E-40EC-952A-E34310DCA7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25FAEA8-C068-41B1-B21C-BD90BE683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2BFB6-1FC3-41CB-8C42-49EFF6365BE4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8B57B24-2BE8-4426-9BEF-52EF256E2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915E632-8176-4F06-8B3F-661C288A1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3BAD9-F855-4EE1-BA3C-3F3287C71C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5996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3A41BD-2708-4585-AC66-E2510BFC3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0D09224-EFE3-485F-83DA-41CCD838A0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BFC079E-F4AB-4544-8190-BF70115DB7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4D7C7FB-49CF-4984-9C03-844C17CE0F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731EE4A-5F86-4C32-91A4-C709ECED8F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6738EB9-C9FD-4A81-9E7B-B0068A528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2BFB6-1FC3-41CB-8C42-49EFF6365BE4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553EC2E-F1D9-4A99-A812-D08644E575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A23D93C-1C16-4EBF-BF24-67453FD16D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3BAD9-F855-4EE1-BA3C-3F3287C71C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039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A63ED-4DD3-44EA-B968-A594C5056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4B84DD7-27CB-4B48-9DB8-9ACFD76D4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2BFB6-1FC3-41CB-8C42-49EFF6365BE4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BA832BA-76D4-470E-BB19-1A50C248F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88BE879-EBF3-48FB-9E5A-F82C3F54D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3BAD9-F855-4EE1-BA3C-3F3287C71C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5103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E80A918-9C6F-4AE3-B826-798CACFB2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2BFB6-1FC3-41CB-8C42-49EFF6365BE4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05284C2-AD75-423D-BCE0-2313B95E8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110F822-BE2A-4CBB-9883-BA6D28A42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3BAD9-F855-4EE1-BA3C-3F3287C71C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7254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0799F1-FF84-4FB4-857A-41062818D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9E21879-3768-495C-8F00-AED8864ED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B97323-5C70-4E56-ADB3-9BD322EAF7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303D723-5591-4ABA-8C80-7A0046110F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2BFB6-1FC3-41CB-8C42-49EFF6365BE4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0DB6E18-6844-4890-8E95-E5D05A0AC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7005A55-A25E-424A-A29C-DA149F761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3BAD9-F855-4EE1-BA3C-3F3287C71C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45429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E0FB32-D638-4653-BD69-31D9BF5BC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3E2ED34-D3AB-409D-8E07-1B2BACB0C3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EDE1FCA-993B-4C65-847D-7CD61F1B70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9D96A80-91E1-4AB1-A796-C24026893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2BFB6-1FC3-41CB-8C42-49EFF6365BE4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F946CD0-8E01-42F9-839F-479D4962D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8A26EB8-915E-485B-8352-45F8D9268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3BAD9-F855-4EE1-BA3C-3F3287C71C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010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37EF87-5608-4B0E-842F-C216D4158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AE1A1BE-25CD-4FA1-9C1E-E655F1855A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EA0A9BF-9645-4626-AAFD-AAD4AFCCA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2BFB6-1FC3-41CB-8C42-49EFF6365BE4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C201A37-70A1-4A1D-B8E2-55918886F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9EE7771-7C97-4579-9F5D-B622AED6B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3BAD9-F855-4EE1-BA3C-3F3287C71C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1242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EBA4177-B862-4680-9B21-E03B90927F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F2B12DB-AFDD-44B3-920C-C538ACEF31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9745DD-1ACC-4FF8-B97D-CA332F104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2BFB6-1FC3-41CB-8C42-49EFF6365BE4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F61AE60-F1D0-41B3-BD68-32A73EC70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5F1595B-9937-4C17-AEA9-09B35A0D1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3BAD9-F855-4EE1-BA3C-3F3287C71C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0516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0502DE-CA8E-472A-96CD-76BEF801D8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AA369B9-8808-40F9-A6B7-84C50C7B42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23228B9-24B5-470F-8292-07159E54A0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92BFB6-1FC3-41CB-8C42-49EFF6365BE4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0639312-556E-4B02-94A1-39F9363E0E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74F1653-2B4C-4887-B069-CB2BB04C53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23BAD9-F855-4EE1-BA3C-3F3287C71C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8413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76000" r="-7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A86A22-1E24-41DB-BC37-A62016C621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b="1" dirty="0" err="1">
                <a:solidFill>
                  <a:schemeClr val="bg1"/>
                </a:solidFill>
              </a:rPr>
              <a:t>Lent_Frankenstein</a:t>
            </a:r>
            <a:r>
              <a:rPr lang="en-US" b="1" dirty="0">
                <a:solidFill>
                  <a:schemeClr val="bg1"/>
                </a:solidFill>
              </a:rPr>
              <a:t>: Retail Price Tag Recognition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FCF29EE-901C-4364-8E21-880CC01784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solidFill>
            <a:schemeClr val="tx2">
              <a:alpha val="51000"/>
            </a:schemeClr>
          </a:solidFill>
          <a:effectLst>
            <a:softEdge rad="31750"/>
          </a:effectLst>
        </p:spPr>
        <p:txBody>
          <a:bodyPr>
            <a:normAutofit lnSpcReduction="10000"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Решение для автоматического распознавания ценников</a:t>
            </a:r>
          </a:p>
          <a:p>
            <a:r>
              <a:rPr lang="ru-RU" b="1" dirty="0">
                <a:solidFill>
                  <a:schemeClr val="bg1"/>
                </a:solidFill>
              </a:rPr>
              <a:t>с видеопотока робота</a:t>
            </a:r>
            <a:endParaRPr lang="en-US" b="1" dirty="0">
              <a:solidFill>
                <a:schemeClr val="bg1"/>
              </a:solidFill>
            </a:endParaRPr>
          </a:p>
          <a:p>
            <a:endParaRPr lang="en-US" b="1" dirty="0">
              <a:solidFill>
                <a:schemeClr val="bg1"/>
              </a:solidFill>
            </a:endParaRPr>
          </a:p>
          <a:p>
            <a:r>
              <a:rPr lang="ru-RU" b="1" dirty="0">
                <a:solidFill>
                  <a:schemeClr val="bg1"/>
                </a:solidFill>
              </a:rPr>
              <a:t>Команда: </a:t>
            </a:r>
            <a:r>
              <a:rPr lang="en-US" b="1" dirty="0" err="1">
                <a:solidFill>
                  <a:schemeClr val="bg1"/>
                </a:solidFill>
              </a:rPr>
              <a:t>KarpoVision</a:t>
            </a:r>
            <a:r>
              <a:rPr lang="ru-RU" b="1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| </a:t>
            </a:r>
            <a:r>
              <a:rPr lang="ru-RU" b="1" dirty="0" err="1">
                <a:solidFill>
                  <a:schemeClr val="bg1"/>
                </a:solidFill>
              </a:rPr>
              <a:t>Lenta</a:t>
            </a:r>
            <a:r>
              <a:rPr lang="ru-RU" b="1" dirty="0">
                <a:solidFill>
                  <a:schemeClr val="bg1"/>
                </a:solidFill>
              </a:rPr>
              <a:t> Tech Life </a:t>
            </a:r>
            <a:r>
              <a:rPr lang="ru-RU" b="1" dirty="0" err="1">
                <a:solidFill>
                  <a:schemeClr val="bg1"/>
                </a:solidFill>
              </a:rPr>
              <a:t>Hack</a:t>
            </a:r>
            <a:endParaRPr lang="ru-RU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4533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76000" r="-7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A86A22-1E24-41DB-BC37-A62016C62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bg1"/>
                </a:solidFill>
              </a:rPr>
              <a:t>Состав команды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FCF29EE-901C-4364-8E21-880CC0178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57240" cy="2980055"/>
          </a:xfrm>
          <a:solidFill>
            <a:schemeClr val="tx2">
              <a:alpha val="51000"/>
            </a:schemeClr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b="1" dirty="0">
                <a:solidFill>
                  <a:schemeClr val="bg1"/>
                </a:solidFill>
              </a:rPr>
              <a:t>Басалаева Маргарита</a:t>
            </a:r>
            <a:r>
              <a:rPr lang="en-US" b="1" dirty="0">
                <a:solidFill>
                  <a:schemeClr val="bg1"/>
                </a:solidFill>
              </a:rPr>
              <a:t> – CV engineer</a:t>
            </a:r>
          </a:p>
          <a:p>
            <a:pPr marL="0" indent="0">
              <a:buNone/>
            </a:pPr>
            <a:r>
              <a:rPr lang="en-US" b="1" dirty="0" err="1">
                <a:solidFill>
                  <a:schemeClr val="bg1"/>
                </a:solidFill>
              </a:rPr>
              <a:t>tg</a:t>
            </a:r>
            <a:r>
              <a:rPr lang="en-US" b="1" dirty="0">
                <a:solidFill>
                  <a:schemeClr val="bg1"/>
                </a:solidFill>
              </a:rPr>
              <a:t>: @virinospaco</a:t>
            </a:r>
          </a:p>
          <a:p>
            <a:pPr marL="0" indent="0">
              <a:buNone/>
            </a:pPr>
            <a:r>
              <a:rPr lang="ru-RU" b="1" dirty="0">
                <a:solidFill>
                  <a:schemeClr val="bg1"/>
                </a:solidFill>
              </a:rPr>
              <a:t>Новицкий Владислав – </a:t>
            </a:r>
            <a:r>
              <a:rPr lang="en-US" b="1" dirty="0">
                <a:solidFill>
                  <a:schemeClr val="bg1"/>
                </a:solidFill>
              </a:rPr>
              <a:t>ML engineer</a:t>
            </a:r>
          </a:p>
          <a:p>
            <a:pPr marL="0" indent="0">
              <a:buNone/>
            </a:pPr>
            <a:r>
              <a:rPr lang="en-US" b="1" dirty="0" err="1">
                <a:solidFill>
                  <a:schemeClr val="bg1"/>
                </a:solidFill>
              </a:rPr>
              <a:t>tg</a:t>
            </a:r>
            <a:r>
              <a:rPr lang="en-US" b="1" dirty="0">
                <a:solidFill>
                  <a:schemeClr val="bg1"/>
                </a:solidFill>
              </a:rPr>
              <a:t>: @VladisRave</a:t>
            </a:r>
          </a:p>
          <a:p>
            <a:pPr marL="0" indent="0">
              <a:buNone/>
            </a:pPr>
            <a:r>
              <a:rPr lang="ru-RU" b="1" dirty="0">
                <a:solidFill>
                  <a:schemeClr val="bg1"/>
                </a:solidFill>
              </a:rPr>
              <a:t>Гусев Данила – </a:t>
            </a:r>
            <a:r>
              <a:rPr lang="en-US" b="1" dirty="0">
                <a:solidFill>
                  <a:schemeClr val="bg1"/>
                </a:solidFill>
              </a:rPr>
              <a:t>Backend</a:t>
            </a:r>
          </a:p>
          <a:p>
            <a:pPr marL="0" indent="0">
              <a:buNone/>
            </a:pPr>
            <a:r>
              <a:rPr lang="en-US" b="1" dirty="0" err="1">
                <a:solidFill>
                  <a:schemeClr val="bg1"/>
                </a:solidFill>
              </a:rPr>
              <a:t>tg</a:t>
            </a:r>
            <a:r>
              <a:rPr lang="en-US" b="1" dirty="0">
                <a:solidFill>
                  <a:schemeClr val="bg1"/>
                </a:solidFill>
              </a:rPr>
              <a:t>: @danyagusevv</a:t>
            </a:r>
            <a:endParaRPr lang="ru-RU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84985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76000" r="-7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A86A22-1E24-41DB-BC37-A62016C62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bg1"/>
                </a:solidFill>
              </a:rPr>
              <a:t>Постановка задачи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FCF29EE-901C-4364-8E21-880CC0178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604464" cy="2543175"/>
          </a:xfrm>
          <a:solidFill>
            <a:schemeClr val="tx2">
              <a:alpha val="51000"/>
            </a:schemeClr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b="1" dirty="0">
                <a:solidFill>
                  <a:schemeClr val="bg1"/>
                </a:solidFill>
              </a:rPr>
              <a:t>Реализовать </a:t>
            </a:r>
            <a:r>
              <a:rPr lang="ru-RU" b="1" dirty="0" err="1">
                <a:solidFill>
                  <a:schemeClr val="bg1"/>
                </a:solidFill>
              </a:rPr>
              <a:t>пайплайн</a:t>
            </a:r>
            <a:r>
              <a:rPr lang="ru-RU" b="1" dirty="0">
                <a:solidFill>
                  <a:schemeClr val="bg1"/>
                </a:solidFill>
              </a:rPr>
              <a:t>, который детектирует ценники на кадрах и распознает максимальное количество ключевых параметров.</a:t>
            </a:r>
          </a:p>
          <a:p>
            <a:pPr marL="0" indent="0">
              <a:buNone/>
            </a:pPr>
            <a:endParaRPr lang="ru-RU" b="1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ru-RU" b="1" dirty="0">
                <a:solidFill>
                  <a:schemeClr val="bg1"/>
                </a:solidFill>
              </a:rPr>
              <a:t>Предлагаемое решение: </a:t>
            </a:r>
            <a:r>
              <a:rPr lang="en-US" b="1" dirty="0">
                <a:solidFill>
                  <a:schemeClr val="bg1"/>
                </a:solidFill>
              </a:rPr>
              <a:t>YOLOv11s + </a:t>
            </a:r>
            <a:r>
              <a:rPr lang="en-US" b="1" dirty="0" err="1">
                <a:solidFill>
                  <a:schemeClr val="bg1"/>
                </a:solidFill>
              </a:rPr>
              <a:t>PaddleOCR</a:t>
            </a:r>
            <a:endParaRPr lang="ru-RU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9569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76000" r="-7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A86A22-1E24-41DB-BC37-A62016C62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bg1"/>
                </a:solidFill>
              </a:rPr>
              <a:t>Анализ входных данных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FCF29EE-901C-4364-8E21-880CC0178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657730" cy="2799641"/>
          </a:xfrm>
          <a:solidFill>
            <a:schemeClr val="tx2">
              <a:alpha val="51000"/>
            </a:schemeClr>
          </a:solidFill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b="1" dirty="0">
                <a:solidFill>
                  <a:schemeClr val="bg1"/>
                </a:solidFill>
              </a:rPr>
              <a:t>Данные зашумленные: в видео есть блики, тени, перекрытия. Также они все повернуты на 90 градусов.</a:t>
            </a:r>
          </a:p>
          <a:p>
            <a:pPr marL="0" indent="0">
              <a:buNone/>
            </a:pPr>
            <a:r>
              <a:rPr lang="ru-RU" b="1" dirty="0">
                <a:solidFill>
                  <a:schemeClr val="bg1"/>
                </a:solidFill>
              </a:rPr>
              <a:t>Сами </a:t>
            </a:r>
            <a:r>
              <a:rPr lang="ru-RU" b="1" dirty="0" err="1">
                <a:solidFill>
                  <a:schemeClr val="bg1"/>
                </a:solidFill>
              </a:rPr>
              <a:t>датафреймы</a:t>
            </a:r>
            <a:r>
              <a:rPr lang="ru-RU" b="1" dirty="0">
                <a:solidFill>
                  <a:schemeClr val="bg1"/>
                </a:solidFill>
              </a:rPr>
              <a:t> с данными тоже имеют ошибки: где-то опечатка в колонке, где-то есть </a:t>
            </a:r>
            <a:r>
              <a:rPr lang="en-US" b="1" dirty="0" err="1">
                <a:solidFill>
                  <a:schemeClr val="bg1"/>
                </a:solidFill>
              </a:rPr>
              <a:t>NaN</a:t>
            </a:r>
            <a:r>
              <a:rPr lang="ru-RU" b="1" dirty="0">
                <a:solidFill>
                  <a:schemeClr val="bg1"/>
                </a:solidFill>
              </a:rPr>
              <a:t>. Всё это подвергается предобработке.</a:t>
            </a:r>
          </a:p>
          <a:p>
            <a:pPr marL="0" indent="0">
              <a:buNone/>
            </a:pPr>
            <a:r>
              <a:rPr lang="ru-RU" b="1" dirty="0">
                <a:solidFill>
                  <a:schemeClr val="bg1"/>
                </a:solidFill>
              </a:rPr>
              <a:t>Также нами добавлены данные из </a:t>
            </a:r>
            <a:r>
              <a:rPr lang="en-US" b="1" dirty="0" err="1">
                <a:solidFill>
                  <a:schemeClr val="bg1"/>
                </a:solidFill>
              </a:rPr>
              <a:t>Roboflow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ru-RU" b="1" dirty="0">
                <a:solidFill>
                  <a:schemeClr val="bg1"/>
                </a:solidFill>
              </a:rPr>
              <a:t>и </a:t>
            </a:r>
            <a:r>
              <a:rPr lang="en-US" b="1" dirty="0" err="1">
                <a:solidFill>
                  <a:schemeClr val="bg1"/>
                </a:solidFill>
              </a:rPr>
              <a:t>HuggingFace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ru-RU" b="1" dirty="0">
                <a:solidFill>
                  <a:schemeClr val="bg1"/>
                </a:solidFill>
              </a:rPr>
              <a:t>для расширения </a:t>
            </a:r>
            <a:r>
              <a:rPr lang="ru-RU" b="1" dirty="0" err="1">
                <a:solidFill>
                  <a:schemeClr val="bg1"/>
                </a:solidFill>
              </a:rPr>
              <a:t>датасета</a:t>
            </a:r>
            <a:r>
              <a:rPr lang="ru-RU" b="1" dirty="0">
                <a:solidFill>
                  <a:schemeClr val="bg1"/>
                </a:solidFill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5431535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76000" r="-7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A86A22-1E24-41DB-BC37-A62016C62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bg1"/>
                </a:solidFill>
              </a:rPr>
              <a:t>Архитектура решения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FCF29EE-901C-4364-8E21-880CC0178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35936" cy="2320247"/>
          </a:xfrm>
          <a:solidFill>
            <a:schemeClr val="tx2">
              <a:alpha val="51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>
                <a:solidFill>
                  <a:schemeClr val="bg1"/>
                </a:solidFill>
              </a:rPr>
              <a:t>Наш </a:t>
            </a:r>
            <a:r>
              <a:rPr lang="ru-RU" b="1" dirty="0" err="1">
                <a:solidFill>
                  <a:schemeClr val="bg1"/>
                </a:solidFill>
              </a:rPr>
              <a:t>пайплайн</a:t>
            </a:r>
            <a:r>
              <a:rPr lang="ru-RU" b="1" dirty="0">
                <a:solidFill>
                  <a:schemeClr val="bg1"/>
                </a:solidFill>
              </a:rPr>
              <a:t> состоит из: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Preprocessing Data -&gt; Detector(YOLOv11) -&gt; Crop Images -&gt; OCR + QR (</a:t>
            </a:r>
            <a:r>
              <a:rPr lang="en-US" b="1" dirty="0" err="1">
                <a:solidFill>
                  <a:schemeClr val="bg1"/>
                </a:solidFill>
              </a:rPr>
              <a:t>PaddleOCR</a:t>
            </a:r>
            <a:r>
              <a:rPr lang="en-US" b="1" dirty="0">
                <a:solidFill>
                  <a:schemeClr val="bg1"/>
                </a:solidFill>
              </a:rPr>
              <a:t> + </a:t>
            </a:r>
            <a:r>
              <a:rPr lang="en-US" b="1" dirty="0" err="1">
                <a:solidFill>
                  <a:schemeClr val="bg1"/>
                </a:solidFill>
              </a:rPr>
              <a:t>pyzbar</a:t>
            </a:r>
            <a:r>
              <a:rPr lang="en-US" b="1" dirty="0">
                <a:solidFill>
                  <a:schemeClr val="bg1"/>
                </a:solidFill>
              </a:rPr>
              <a:t>) -&gt; Result csv</a:t>
            </a:r>
            <a:endParaRPr lang="ru-RU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1361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76000" r="-7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A86A22-1E24-41DB-BC37-A62016C62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Preprocessing Data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FCF29EE-901C-4364-8E21-880CC0178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96239" cy="2870662"/>
          </a:xfrm>
          <a:solidFill>
            <a:schemeClr val="tx2">
              <a:alpha val="51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>
                <a:solidFill>
                  <a:schemeClr val="bg1"/>
                </a:solidFill>
              </a:rPr>
              <a:t>Видео, данные для обучающей выборки </a:t>
            </a:r>
            <a:r>
              <a:rPr lang="ru-RU" b="1" dirty="0" err="1">
                <a:solidFill>
                  <a:schemeClr val="bg1"/>
                </a:solidFill>
              </a:rPr>
              <a:t>хакатоном</a:t>
            </a:r>
            <a:r>
              <a:rPr lang="ru-RU" b="1" dirty="0">
                <a:solidFill>
                  <a:schemeClr val="bg1"/>
                </a:solidFill>
              </a:rPr>
              <a:t>, необходимо повернуть на 90 градусов. Затем в </a:t>
            </a:r>
            <a:r>
              <a:rPr lang="en-US" b="1" dirty="0">
                <a:solidFill>
                  <a:schemeClr val="bg1"/>
                </a:solidFill>
              </a:rPr>
              <a:t>csv </a:t>
            </a:r>
            <a:r>
              <a:rPr lang="ru-RU" b="1" dirty="0">
                <a:solidFill>
                  <a:schemeClr val="bg1"/>
                </a:solidFill>
              </a:rPr>
              <a:t>для каждого видео в столбце </a:t>
            </a:r>
            <a:r>
              <a:rPr lang="en-US" b="1" dirty="0" err="1">
                <a:solidFill>
                  <a:schemeClr val="bg1"/>
                </a:solidFill>
              </a:rPr>
              <a:t>frame_timestamp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ru-RU" b="1" dirty="0">
                <a:solidFill>
                  <a:schemeClr val="bg1"/>
                </a:solidFill>
              </a:rPr>
              <a:t>указано время после начала записи видео, используем его для того, чтобы порезать видео на фреймы с указанными </a:t>
            </a:r>
            <a:r>
              <a:rPr lang="en-US" b="1" dirty="0" err="1">
                <a:solidFill>
                  <a:schemeClr val="bg1"/>
                </a:solidFill>
              </a:rPr>
              <a:t>bboxes</a:t>
            </a:r>
            <a:r>
              <a:rPr lang="en-US" b="1" dirty="0">
                <a:solidFill>
                  <a:schemeClr val="bg1"/>
                </a:solidFill>
              </a:rPr>
              <a:t>. </a:t>
            </a:r>
            <a:r>
              <a:rPr lang="ru-RU" b="1" dirty="0">
                <a:solidFill>
                  <a:schemeClr val="bg1"/>
                </a:solidFill>
              </a:rPr>
              <a:t>Также заданные координаты </a:t>
            </a:r>
            <a:r>
              <a:rPr lang="en-US" b="1" dirty="0" err="1">
                <a:solidFill>
                  <a:schemeClr val="bg1"/>
                </a:solidFill>
              </a:rPr>
              <a:t>x_min</a:t>
            </a:r>
            <a:r>
              <a:rPr lang="en-US" b="1" dirty="0">
                <a:solidFill>
                  <a:schemeClr val="bg1"/>
                </a:solidFill>
              </a:rPr>
              <a:t>, </a:t>
            </a:r>
            <a:r>
              <a:rPr lang="en-US" b="1" dirty="0" err="1">
                <a:solidFill>
                  <a:schemeClr val="bg1"/>
                </a:solidFill>
              </a:rPr>
              <a:t>y_min</a:t>
            </a:r>
            <a:r>
              <a:rPr lang="en-US" b="1" dirty="0">
                <a:solidFill>
                  <a:schemeClr val="bg1"/>
                </a:solidFill>
              </a:rPr>
              <a:t>, </a:t>
            </a:r>
            <a:r>
              <a:rPr lang="en-US" b="1" dirty="0" err="1">
                <a:solidFill>
                  <a:schemeClr val="bg1"/>
                </a:solidFill>
              </a:rPr>
              <a:t>x_max</a:t>
            </a:r>
            <a:r>
              <a:rPr lang="en-US" b="1" dirty="0">
                <a:solidFill>
                  <a:schemeClr val="bg1"/>
                </a:solidFill>
              </a:rPr>
              <a:t>, </a:t>
            </a:r>
            <a:r>
              <a:rPr lang="en-US" b="1" dirty="0" err="1">
                <a:solidFill>
                  <a:schemeClr val="bg1"/>
                </a:solidFill>
              </a:rPr>
              <a:t>y_max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r>
              <a:rPr lang="ru-RU" b="1" dirty="0">
                <a:solidFill>
                  <a:schemeClr val="bg1"/>
                </a:solidFill>
              </a:rPr>
              <a:t>необходимо преобразовать к </a:t>
            </a:r>
            <a:r>
              <a:rPr lang="en-US" b="1" dirty="0">
                <a:solidFill>
                  <a:schemeClr val="bg1"/>
                </a:solidFill>
              </a:rPr>
              <a:t>YOLO</a:t>
            </a:r>
            <a:r>
              <a:rPr lang="ru-RU" b="1" dirty="0">
                <a:solidFill>
                  <a:schemeClr val="bg1"/>
                </a:solidFill>
              </a:rPr>
              <a:t>-формату: </a:t>
            </a:r>
            <a:r>
              <a:rPr lang="en-US" b="1" dirty="0" err="1">
                <a:solidFill>
                  <a:schemeClr val="bg1"/>
                </a:solidFill>
              </a:rPr>
              <a:t>x_center</a:t>
            </a:r>
            <a:r>
              <a:rPr lang="en-US" b="1" dirty="0">
                <a:solidFill>
                  <a:schemeClr val="bg1"/>
                </a:solidFill>
              </a:rPr>
              <a:t>, </a:t>
            </a:r>
            <a:r>
              <a:rPr lang="en-US" b="1" dirty="0" err="1">
                <a:solidFill>
                  <a:schemeClr val="bg1"/>
                </a:solidFill>
              </a:rPr>
              <a:t>y_center</a:t>
            </a:r>
            <a:r>
              <a:rPr lang="en-US" b="1" dirty="0">
                <a:solidFill>
                  <a:schemeClr val="bg1"/>
                </a:solidFill>
              </a:rPr>
              <a:t>, width, height. </a:t>
            </a:r>
            <a:endParaRPr lang="ru-RU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84002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76000" r="-7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A86A22-1E24-41DB-BC37-A62016C62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bg1"/>
                </a:solidFill>
              </a:rPr>
              <a:t>Детектор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FCF29EE-901C-4364-8E21-880CC0178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86856" cy="3696287"/>
          </a:xfrm>
          <a:solidFill>
            <a:schemeClr val="tx2">
              <a:alpha val="51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>
                <a:solidFill>
                  <a:schemeClr val="bg1"/>
                </a:solidFill>
              </a:rPr>
              <a:t>Для детекции мы использовали </a:t>
            </a:r>
            <a:r>
              <a:rPr lang="en-US" b="1" dirty="0">
                <a:solidFill>
                  <a:schemeClr val="bg1"/>
                </a:solidFill>
              </a:rPr>
              <a:t>yolov11s</a:t>
            </a:r>
            <a:r>
              <a:rPr lang="ru-RU" b="1" dirty="0">
                <a:solidFill>
                  <a:schemeClr val="bg1"/>
                </a:solidFill>
              </a:rPr>
              <a:t>, упор был на то, чтобы модель была не тяжеловесной и могла быстрее работать в </a:t>
            </a:r>
            <a:r>
              <a:rPr lang="en-US" b="1" dirty="0">
                <a:solidFill>
                  <a:schemeClr val="bg1"/>
                </a:solidFill>
              </a:rPr>
              <a:t>real-time </a:t>
            </a:r>
            <a:r>
              <a:rPr lang="ru-RU" b="1" dirty="0" err="1">
                <a:solidFill>
                  <a:schemeClr val="bg1"/>
                </a:solidFill>
              </a:rPr>
              <a:t>инференсе</a:t>
            </a:r>
            <a:r>
              <a:rPr lang="en-US" b="1" dirty="0">
                <a:solidFill>
                  <a:schemeClr val="bg1"/>
                </a:solidFill>
              </a:rPr>
              <a:t>.</a:t>
            </a:r>
            <a:r>
              <a:rPr lang="ru-RU" b="1" dirty="0">
                <a:solidFill>
                  <a:schemeClr val="bg1"/>
                </a:solidFill>
              </a:rPr>
              <a:t> Для обучения мы используем небольшие аугментации: повороты на несколько градусов, перспективу, масштаб и т.д. </a:t>
            </a:r>
          </a:p>
          <a:p>
            <a:pPr marL="0" indent="0">
              <a:buNone/>
            </a:pPr>
            <a:r>
              <a:rPr lang="ru-RU" b="1" dirty="0">
                <a:solidFill>
                  <a:schemeClr val="bg1"/>
                </a:solidFill>
              </a:rPr>
              <a:t>Важно не переборщить с аугментациями, т.к. ценник объект маленький, с ним настраивать нужно аккуратно. </a:t>
            </a:r>
          </a:p>
          <a:p>
            <a:pPr marL="0" indent="0">
              <a:buNone/>
            </a:pPr>
            <a:r>
              <a:rPr lang="ru-RU" b="1" dirty="0">
                <a:solidFill>
                  <a:schemeClr val="bg1"/>
                </a:solidFill>
              </a:rPr>
              <a:t>Итоговые метрики</a:t>
            </a:r>
            <a:r>
              <a:rPr lang="en-US" b="1" dirty="0">
                <a:solidFill>
                  <a:schemeClr val="bg1"/>
                </a:solidFill>
              </a:rPr>
              <a:t>:</a:t>
            </a:r>
            <a:r>
              <a:rPr lang="ru-RU" b="1" dirty="0">
                <a:solidFill>
                  <a:schemeClr val="bg1"/>
                </a:solidFill>
              </a:rPr>
              <a:t> </a:t>
            </a:r>
            <a:r>
              <a:rPr lang="en-US" b="1" dirty="0">
                <a:solidFill>
                  <a:schemeClr val="bg1"/>
                </a:solidFill>
              </a:rPr>
              <a:t>mAP50 = 0.75, mAP50-95 = 0.55, Precision = 0.64, Recall = 0.84. </a:t>
            </a:r>
          </a:p>
          <a:p>
            <a:pPr marL="0" indent="0">
              <a:buNone/>
            </a:pPr>
            <a:endParaRPr lang="ru-RU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6244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76000" r="-7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A86A22-1E24-41DB-BC37-A62016C62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OCR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FCF29EE-901C-4364-8E21-880CC0178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35936" cy="2320247"/>
          </a:xfrm>
          <a:solidFill>
            <a:schemeClr val="tx2">
              <a:alpha val="51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1" dirty="0">
                <a:solidFill>
                  <a:schemeClr val="bg1"/>
                </a:solidFill>
              </a:rPr>
              <a:t>Для </a:t>
            </a:r>
            <a:r>
              <a:rPr lang="en-US" b="1" dirty="0">
                <a:solidFill>
                  <a:schemeClr val="bg1"/>
                </a:solidFill>
              </a:rPr>
              <a:t>OCR </a:t>
            </a:r>
            <a:r>
              <a:rPr lang="ru-RU" b="1" dirty="0">
                <a:solidFill>
                  <a:schemeClr val="bg1"/>
                </a:solidFill>
              </a:rPr>
              <a:t>было решено использовать модель </a:t>
            </a:r>
            <a:r>
              <a:rPr lang="en-US" b="1" dirty="0" err="1">
                <a:solidFill>
                  <a:schemeClr val="bg1"/>
                </a:solidFill>
              </a:rPr>
              <a:t>PaddleOCR</a:t>
            </a:r>
            <a:r>
              <a:rPr lang="en-US" b="1" dirty="0">
                <a:solidFill>
                  <a:schemeClr val="bg1"/>
                </a:solidFill>
              </a:rPr>
              <a:t>, </a:t>
            </a:r>
            <a:r>
              <a:rPr lang="ru-RU" b="1" dirty="0">
                <a:solidFill>
                  <a:schemeClr val="bg1"/>
                </a:solidFill>
              </a:rPr>
              <a:t>т.к. он показал себя лучше в распознавании текста. После детекции делаем </a:t>
            </a:r>
            <a:r>
              <a:rPr lang="ru-RU" b="1" dirty="0" err="1">
                <a:solidFill>
                  <a:schemeClr val="bg1"/>
                </a:solidFill>
              </a:rPr>
              <a:t>кроп</a:t>
            </a:r>
            <a:r>
              <a:rPr lang="ru-RU" b="1" dirty="0">
                <a:solidFill>
                  <a:schemeClr val="bg1"/>
                </a:solidFill>
              </a:rPr>
              <a:t> изображения, </a:t>
            </a:r>
            <a:r>
              <a:rPr lang="ru-RU" b="1" dirty="0" err="1">
                <a:solidFill>
                  <a:schemeClr val="bg1"/>
                </a:solidFill>
              </a:rPr>
              <a:t>ресайзим</a:t>
            </a:r>
            <a:r>
              <a:rPr lang="ru-RU" b="1" dirty="0">
                <a:solidFill>
                  <a:schemeClr val="bg1"/>
                </a:solidFill>
              </a:rPr>
              <a:t> его для более точного распознавания текста. Цвет ценника определяем с помощью </a:t>
            </a:r>
            <a:r>
              <a:rPr lang="en-US" b="1" dirty="0">
                <a:solidFill>
                  <a:schemeClr val="bg1"/>
                </a:solidFill>
              </a:rPr>
              <a:t>HSV. </a:t>
            </a:r>
            <a:r>
              <a:rPr lang="ru-RU" b="1" dirty="0">
                <a:solidFill>
                  <a:schemeClr val="bg1"/>
                </a:solidFill>
              </a:rPr>
              <a:t>Итог переводим в </a:t>
            </a:r>
            <a:r>
              <a:rPr lang="en-US" b="1" dirty="0">
                <a:solidFill>
                  <a:schemeClr val="bg1"/>
                </a:solidFill>
              </a:rPr>
              <a:t>submission.csv.</a:t>
            </a:r>
            <a:endParaRPr lang="ru-RU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4413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76000" r="-7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A86A22-1E24-41DB-BC37-A62016C62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chemeClr val="bg1"/>
                </a:solidFill>
              </a:rPr>
              <a:t>Ссылка на решение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FCF29EE-901C-4364-8E21-880CC0178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35936" cy="2320247"/>
          </a:xfrm>
          <a:solidFill>
            <a:schemeClr val="tx2">
              <a:alpha val="51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bg1"/>
                </a:solidFill>
              </a:rPr>
              <a:t>https://github.com/VladisRave/Lent_Frankenstein.git</a:t>
            </a:r>
            <a:endParaRPr lang="ru-RU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014865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</TotalTime>
  <Words>394</Words>
  <Application>Microsoft Office PowerPoint</Application>
  <PresentationFormat>Широкоэкранный</PresentationFormat>
  <Paragraphs>33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Тема Office</vt:lpstr>
      <vt:lpstr>Lent_Frankenstein: Retail Price Tag Recognition</vt:lpstr>
      <vt:lpstr>Состав команды</vt:lpstr>
      <vt:lpstr>Постановка задачи</vt:lpstr>
      <vt:lpstr>Анализ входных данных</vt:lpstr>
      <vt:lpstr>Архитектура решения</vt:lpstr>
      <vt:lpstr>Preprocessing Data</vt:lpstr>
      <vt:lpstr>Детектор</vt:lpstr>
      <vt:lpstr>OCR</vt:lpstr>
      <vt:lpstr>Ссылка на решение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Virino Spaco</dc:creator>
  <cp:lastModifiedBy>Virino Spaco</cp:lastModifiedBy>
  <cp:revision>16</cp:revision>
  <dcterms:created xsi:type="dcterms:W3CDTF">2026-05-18T19:19:13Z</dcterms:created>
  <dcterms:modified xsi:type="dcterms:W3CDTF">2026-05-19T09:54:29Z</dcterms:modified>
</cp:coreProperties>
</file>